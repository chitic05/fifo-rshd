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44768AE-1B46-49D0-9B84-9CD8BBCD412D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5FD577-D81A-4C28-82FD-3313A19B30D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B13CD6-D2CE-40E7-9CC1-091487E6F102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7C6C2E39-DF4E-4E6B-AEC6-1027B5E181DF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941EDF-D43E-4571-9AC6-06E88D6B62FC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0D6263A-FE23-4513-A20F-B7DCAB8F5540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E8407DFA-72CD-4C19-8FF3-03944320E39D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FAAFE92-22C1-4113-BD93-1F0766B6EBEE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7C1EB67-C996-4FD6-9A2B-B3A2F38F3F6D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7CBE61CA-5BDD-4BF4-9A5B-D4EC828A6EF9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14BB0B3-0EC2-4786-A908-F7B7CAE7794C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0C2460-C8F5-4AC5-A860-B24C96AC17BF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Outline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DB49CA-4AF1-4160-8663-646B7BAF0231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F337C3-6996-44B7-B9E9-F12017E5A878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2F3369-A89F-4FD1-86B6-601023C08953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D74514-A2B0-4CE3-8EA0-AA55620ECC9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244402C-0BE2-4404-938E-562B019FAA0B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86DD51-1A7D-4F88-A411-5872AA9E76A0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9B1462-090F-46FF-8274-B4BA1ACED585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92CD43-4CB7-47F5-98B8-DD6B75210F07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36;p9"/>
          <p:cNvSpPr/>
          <p:nvPr/>
        </p:nvSpPr>
        <p:spPr>
          <a:xfrm>
            <a:off x="4572000" y="0"/>
            <a:ext cx="4571280" cy="51429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0C1755-E5D9-4D45-9762-4EC80DE20862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751CF0-A1EA-4778-A109-D04AB338321B}" type="slidenum">
              <a:rPr b="0" lang="en" sz="1000" spc="-1" strike="noStrike">
                <a:solidFill>
                  <a:schemeClr val="dk2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5200" spc="-1" strike="noStrike">
                <a:solidFill>
                  <a:schemeClr val="dk1"/>
                </a:solidFill>
                <a:latin typeface="Arial"/>
                <a:ea typeface="Arial"/>
              </a:rPr>
              <a:t>FIFO-RSHD</a:t>
            </a:r>
            <a:endParaRPr b="0" lang="en-US" sz="5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subTitle"/>
          </p:nvPr>
        </p:nvSpPr>
        <p:spPr>
          <a:xfrm>
            <a:off x="311760" y="2834280"/>
            <a:ext cx="8519760" cy="197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43333" lnSpcReduction="10000"/>
          </a:bodyPr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353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353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De Chitic David-Alexandru,</a:t>
            </a:r>
            <a:endParaRPr b="0" lang="en-US" sz="353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353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Patrascu Andrei,</a:t>
            </a:r>
            <a:endParaRPr b="0" lang="en-US" sz="353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353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Nemtoi Andrei Gabriel</a:t>
            </a:r>
            <a:endParaRPr b="0" lang="en-US" sz="353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240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Universitatea din Bucuresti​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240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Departamentul de Informatica​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240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Instrumente si tehnici de baza in informatica​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en" sz="240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2025-2026​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3937320" cy="70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500" spc="-1" strike="noStrike">
                <a:solidFill>
                  <a:schemeClr val="dk1"/>
                </a:solidFill>
                <a:latin typeface="Arial"/>
                <a:ea typeface="Arial"/>
              </a:rPr>
              <a:t>Descrierea Problemei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Google Shape;61;p14"/>
          <p:cNvSpPr/>
          <p:nvPr/>
        </p:nvSpPr>
        <p:spPr>
          <a:xfrm>
            <a:off x="214560" y="697680"/>
            <a:ext cx="3722760" cy="424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Care sunt datele problemei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cereri trimise de clienți sub forma: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BEGIN-REQ [client-pid: command-name] END-REQ</a:t>
            </a:r>
            <a:br>
              <a:rPr sz="1100"/>
            </a:b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client-pid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– identificatorul procesului client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command-name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– numele comenzii shell pentru care se solicită pagina de manual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fișier FIFO „well-known” utilizat de server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fișiere FIFO individuale pentru fiecare client, denumite pe baza PID-ului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Care este contextul general al problemei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problemă de </a:t>
            </a: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comunicare inter-proces (IPC)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în sisteme de operare UNIX/Linux</a:t>
            </a:r>
            <a:br>
              <a:rPr sz="1800"/>
            </a:b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Google Shape;62;p14"/>
          <p:cNvSpPr/>
          <p:nvPr/>
        </p:nvSpPr>
        <p:spPr>
          <a:xfrm>
            <a:off x="4363200" y="93960"/>
            <a:ext cx="4780440" cy="50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utilizarea fișierelor speciale de tip </a:t>
            </a: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 (named pipes)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pentru schimb de date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arhitectură </a:t>
            </a: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client–server</a:t>
            </a:r>
            <a:br>
              <a:rPr sz="1100"/>
            </a:b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sincronizarea comunicării între mai mulți clienți și un server unic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Care sunt datele particulare ale problemei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serverul citește cereri dintr-un FIFO cu nume cunoscut, configurabil din fișier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fiecare client creează un FIFO personal pentru a primi răspunsul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serverul execută comanda 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man command-name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pentru a obține informația cerută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răspunsul este trimis exclusiv clientului care a făcut cererea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clientul șterge FIFO-ul personal după afișarea rezultatului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67;p15"/>
          <p:cNvSpPr/>
          <p:nvPr/>
        </p:nvSpPr>
        <p:spPr>
          <a:xfrm>
            <a:off x="134280" y="402480"/>
            <a:ext cx="4437360" cy="500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Ce se urmărește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implementarea unui mecanism simplu și funcțional de comunicare client–server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separarea clară a canalelor de comunicare pentru evitarea conflictelor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demonstrarea utilizării FIFO-urilor în bash scripting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De ce e nevoie de o soluție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permite acces concurent la informații despre comenzi shell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exemplifică concepte fundamentale din sistemele de operare (IPC, procese, sincronizare)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Google Shape;68;p15"/>
          <p:cNvSpPr/>
          <p:nvPr/>
        </p:nvSpPr>
        <p:spPr>
          <a:xfrm>
            <a:off x="5011560" y="261720"/>
            <a:ext cx="4131720" cy="47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Soluții posibile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comunicare prin FIFO-uri (soluția aleasă)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alternative: socket-uri, pipe-uri anonime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 adresează explicit varianta bazată pe FIFO-uri și scripturi bash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Măsuri de performanță avute în vedere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timpul de răspuns al serverului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corectitudinea livrării răspunsului către clientul corespunzător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gestionarea mai multor cereri succesive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curățarea corectă a resurselor (ștergerea FIFO-urilor)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1644120" y="0"/>
            <a:ext cx="4775760" cy="64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 fontScale="70000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400" spc="-1" strike="noStrike">
                <a:solidFill>
                  <a:schemeClr val="dk1"/>
                </a:solidFill>
                <a:highlight>
                  <a:srgbClr val="f5f5f5"/>
                </a:highlight>
                <a:latin typeface="Arial"/>
                <a:ea typeface="Arial"/>
              </a:rPr>
              <a:t>Specificatia solutiei​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Google Shape;74;p16"/>
          <p:cNvSpPr/>
          <p:nvPr/>
        </p:nvSpPr>
        <p:spPr>
          <a:xfrm>
            <a:off x="69480" y="675360"/>
            <a:ext cx="4502160" cy="458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Obiective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realizarea unui sistem client–server funcțional în bash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comunicare sigură între procese folosind FIFO-uri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acces la pagini de manual pentru comenzi shell, la cerere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Descrierea soluției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server bash care ascultă cereri într-un FIFO „well-known”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clienți bash care trimit cereri și primesc răspunsuri dedicate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procesarea cererilor prin executarea comenzii </a:t>
            </a: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man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oogle Shape;75;p16"/>
          <p:cNvSpPr/>
          <p:nvPr/>
        </p:nvSpPr>
        <p:spPr>
          <a:xfrm>
            <a:off x="4709520" y="675360"/>
            <a:ext cx="4502160" cy="426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Caracteristici principale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suport pentru mai mulți clienți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 personalizat pentru fiecare client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separarea clară a cererilor și răspunsurilor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Cerințe funcționale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trimiterea cererii în format standard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procesarea corectă a comenzii cerute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livrarea răspunsului către clientul corespunzător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80;p17"/>
          <p:cNvSpPr/>
          <p:nvPr/>
        </p:nvSpPr>
        <p:spPr>
          <a:xfrm>
            <a:off x="80640" y="71640"/>
            <a:ext cx="4491000" cy="32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UX / Utilizare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rulare din linia de comandă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afișare directă a conținutului paginii de manual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fără interacțiune suplimentară din partea utilizatorului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Cerințe de sistem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sistem de operare Linux/UNIX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suport pentru bash, FIFO (</a:t>
            </a: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mkfifo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)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acces la utilitarul </a:t>
            </a:r>
            <a:r>
              <a:rPr b="0" lang="en" sz="1100" spc="-1" strike="noStrike">
                <a:solidFill>
                  <a:srgbClr val="188038"/>
                </a:solidFill>
                <a:latin typeface="Arial"/>
                <a:ea typeface="Arial"/>
              </a:rPr>
              <a:t>man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Google Shape;81;p17"/>
          <p:cNvSpPr/>
          <p:nvPr/>
        </p:nvSpPr>
        <p:spPr>
          <a:xfrm>
            <a:off x="4653720" y="82800"/>
            <a:ext cx="4628520" cy="32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Presupuneri și limitări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comenzile cerute există în sistem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nu se tratează erori complexe sau atacuri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output-ul 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man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poate fi voluminos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Evaluare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corectitudinea răspunsului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timpul de răspuns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gestionarea FIFO-urilor fără scurgeri de resurse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06080" y="326520"/>
            <a:ext cx="425952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333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Design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311760" y="1152360"/>
            <a:ext cx="4448160" cy="341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lnSpc>
                <a:spcPct val="115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Arhitectură software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Arhitectură </a:t>
            </a: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client–server multi-proces</a:t>
            </a:r>
            <a:br>
              <a:rPr sz="1100"/>
            </a:b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Comunicare inter-proces realizată exclusiv prin </a:t>
            </a: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FIFO-uri</a:t>
            </a:r>
            <a:br>
              <a:rPr sz="1100"/>
            </a:b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Componente: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Client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– trimite cereri de execuție comenzi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Server Master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– primește cereri și le distribuie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Servere Slave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– execută comenzile primite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Google Shape;88;p18"/>
          <p:cNvSpPr/>
          <p:nvPr/>
        </p:nvSpPr>
        <p:spPr>
          <a:xfrm>
            <a:off x="4232160" y="1584000"/>
            <a:ext cx="490428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89;p18"/>
          <p:cNvSpPr/>
          <p:nvPr/>
        </p:nvSpPr>
        <p:spPr>
          <a:xfrm>
            <a:off x="4624200" y="326520"/>
            <a:ext cx="4350960" cy="420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Mecanisme și algoritmi utilizați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 principal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(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MAIN_FIFO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) pentru cereri client → server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FIFO-uri dedicate server–slave</a:t>
            </a:r>
            <a:br>
              <a:rPr sz="1100"/>
            </a:b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FIFO-uri personalizate per client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, identificate prin PID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Algoritm Round-Robin (modulo)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pentru distribuția cererilor: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slave_id = counter % NUM_SLAVES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Motivele alegerii soluției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FIFO: implementare simplă, overhead redus, cerință explicită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Round-Robin: distribuție echilibrată, complexitate O(1)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PID ca identificator: unic, simplifică maparea răspunsurilor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/>
          </p:nvPr>
        </p:nvSpPr>
        <p:spPr>
          <a:xfrm>
            <a:off x="279000" y="119160"/>
            <a:ext cx="8519760" cy="341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15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Fluxul unei cereri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Clientul creează FIFO-ul personal (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server-reply-PID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)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Trimite cererea în format: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BEGIN-REQ [PID: command] END-REQ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Serverul Master alege un slave (Round-Robin)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Slave-ul execută comanda și trimite rezultatul</a:t>
            </a:r>
            <a:br>
              <a:rPr sz="1100"/>
            </a:b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AutoNum type="arabicPeriod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Clientul afișează output-ul și șterge FIFO-ul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" name="Google Shape;95;p19" descr=""/>
          <p:cNvPicPr/>
          <p:nvPr/>
        </p:nvPicPr>
        <p:blipFill>
          <a:blip r:embed="rId1"/>
          <a:stretch/>
        </p:blipFill>
        <p:spPr>
          <a:xfrm>
            <a:off x="1464120" y="2850840"/>
            <a:ext cx="6214680" cy="2266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11760" y="311040"/>
            <a:ext cx="4013640" cy="57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3333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2800" spc="-1" strike="noStrike">
                <a:solidFill>
                  <a:schemeClr val="dk1"/>
                </a:solidFill>
                <a:latin typeface="Arial"/>
                <a:ea typeface="Arial"/>
              </a:rPr>
              <a:t>Implementare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311760" y="863640"/>
            <a:ext cx="8519760" cy="4091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7222"/>
          </a:bodyPr>
          <a:p>
            <a:pPr indent="0">
              <a:lnSpc>
                <a:spcPct val="95000"/>
              </a:lnSpc>
              <a:spcBef>
                <a:spcPts val="1400"/>
              </a:spcBef>
              <a:buNone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Componente software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9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client.sh</a:t>
            </a:r>
            <a:br>
              <a:rPr sz="1000"/>
            </a:b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Creează FIFO personal bazat pe PID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Trimite cereri către server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Afișează rezultatul execuției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9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server.sh (Master)</a:t>
            </a:r>
            <a:br>
              <a:rPr sz="1000"/>
            </a:b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Creează FIFO-ul principal și FIFO-urile slave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Gestionează distribuția cererilor (Round-Robin)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Pornește și coordonează procesele slave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9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slave.sh</a:t>
            </a:r>
            <a:br>
              <a:rPr sz="1000"/>
            </a:b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Primește cereri de la server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Parsează mesajele folosind regex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Execută comenzile shell și redirecționează output-ul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9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config</a:t>
            </a:r>
            <a:br>
              <a:rPr sz="1000"/>
            </a:b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9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Parametri globali (număr slave, nume FIFO-uri)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Google Shape;102;p20"/>
          <p:cNvSpPr/>
          <p:nvPr/>
        </p:nvSpPr>
        <p:spPr>
          <a:xfrm>
            <a:off x="4326120" y="311040"/>
            <a:ext cx="4623480" cy="31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Biblioteci / utilitare folosite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Bash shell scripting</a:t>
            </a:r>
            <a:br>
              <a:rPr sz="1000"/>
            </a:b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Utilitare standard POSIX: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mkfifo</a:t>
            </a: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– creare canale FIFO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read</a:t>
            </a: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, </a:t>
            </a:r>
            <a:r>
              <a:rPr b="0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echo</a:t>
            </a: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, </a:t>
            </a:r>
            <a:r>
              <a:rPr b="0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cat, tail</a:t>
            </a: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– comunicare prin pipe-uri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trap</a:t>
            </a: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– tratarea semnalelor și curățarea resurselor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eval</a:t>
            </a: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– execuția comenzilor shell</a:t>
            </a:r>
            <a:br>
              <a:rPr sz="1000"/>
            </a:b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57200" indent="-29196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Regex Bash (</a:t>
            </a:r>
            <a:r>
              <a:rPr b="1" lang="en" sz="1000" spc="-1" strike="noStrike">
                <a:solidFill>
                  <a:srgbClr val="188038"/>
                </a:solidFill>
                <a:latin typeface="Roboto Mono"/>
                <a:ea typeface="Roboto Mono"/>
              </a:rPr>
              <a:t>[[ =~ ]]</a:t>
            </a: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)</a:t>
            </a:r>
            <a:br>
              <a:rPr sz="1000"/>
            </a:br>
            <a:r>
              <a:rPr b="1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196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000" spc="-1" strike="noStrike">
                <a:solidFill>
                  <a:schemeClr val="dk1"/>
                </a:solidFill>
                <a:latin typeface="Arial"/>
                <a:ea typeface="Arial"/>
              </a:rPr>
              <a:t>Parsarea cererilor client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107;p21"/>
          <p:cNvSpPr/>
          <p:nvPr/>
        </p:nvSpPr>
        <p:spPr>
          <a:xfrm>
            <a:off x="262800" y="1055520"/>
            <a:ext cx="4104000" cy="30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Probleme tehnice întâlnite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Blocarea citirii din FIFO-uri fără scriitor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Curățarea FIFO-urilor la terminarea proceselor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Sincronizarea mai multor clienți concurenți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Parsarea corectă a comenzilor cu spații și pipe-uri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Google Shape;108;p21"/>
          <p:cNvSpPr/>
          <p:nvPr/>
        </p:nvSpPr>
        <p:spPr>
          <a:xfrm>
            <a:off x="4448880" y="1179360"/>
            <a:ext cx="4512600" cy="27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15000"/>
              </a:lnSpc>
              <a:spcBef>
                <a:spcPts val="1400"/>
              </a:spcBef>
              <a:tabLst>
                <a:tab algn="l" pos="0"/>
              </a:tabLst>
            </a:pPr>
            <a:r>
              <a:rPr b="1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Soluții aplicate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FIFO-uri </a:t>
            </a:r>
            <a:r>
              <a:rPr b="1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blocante</a:t>
            </a: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, citirea așteaptă automat date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rgbClr val="188038"/>
                </a:solidFill>
                <a:latin typeface="Roboto Mono"/>
                <a:ea typeface="Roboto Mono"/>
              </a:rPr>
              <a:t>trap</a:t>
            </a: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pentru ștergerea FIFO-urilor la ieșire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FIFO personalizat per client (PID unic)</a:t>
            </a:r>
            <a:br>
              <a:rPr sz="1400"/>
            </a:b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Mesaj standardizat </a:t>
            </a:r>
            <a:r>
              <a:rPr b="0" lang="en" sz="1400" spc="-1" strike="noStrike">
                <a:solidFill>
                  <a:srgbClr val="188038"/>
                </a:solidFill>
                <a:latin typeface="Roboto Mono"/>
                <a:ea typeface="Roboto Mono"/>
              </a:rPr>
              <a:t>BEGIN-REQ … END-REQ</a:t>
            </a:r>
            <a:br>
              <a:rPr sz="1400"/>
            </a:br>
            <a:r>
              <a:rPr b="0" lang="en" sz="1400" spc="-1" strike="noStrike">
                <a:solidFill>
                  <a:srgbClr val="188038"/>
                </a:solidFill>
                <a:latin typeface="Roboto Mono"/>
                <a:ea typeface="Roboto Mono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31752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Redirecționare </a:t>
            </a:r>
            <a:r>
              <a:rPr b="0" lang="en" sz="1400" spc="-1" strike="noStrike">
                <a:solidFill>
                  <a:srgbClr val="188038"/>
                </a:solidFill>
                <a:latin typeface="Roboto Mono"/>
                <a:ea typeface="Roboto Mono"/>
              </a:rPr>
              <a:t>2&gt;&amp;1</a:t>
            </a:r>
            <a:r>
              <a:rPr b="0" lang="en" sz="1400" spc="-1" strike="noStrike">
                <a:solidFill>
                  <a:schemeClr val="dk1"/>
                </a:solidFill>
                <a:latin typeface="Arial"/>
                <a:ea typeface="Arial"/>
              </a:rPr>
              <a:t> pentru capturarea erorilor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113;p22"/>
          <p:cNvSpPr/>
          <p:nvPr/>
        </p:nvSpPr>
        <p:spPr>
          <a:xfrm>
            <a:off x="423360" y="259560"/>
            <a:ext cx="339516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2500" spc="-1" strike="noStrike">
                <a:solidFill>
                  <a:schemeClr val="dk1"/>
                </a:solidFill>
                <a:latin typeface="Arial"/>
                <a:ea typeface="Arial"/>
              </a:rPr>
              <a:t>Experimente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Google Shape;114;p22"/>
          <p:cNvSpPr/>
          <p:nvPr/>
        </p:nvSpPr>
        <p:spPr>
          <a:xfrm>
            <a:off x="920520" y="929160"/>
            <a:ext cx="7222680" cy="39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pc="-1" strike="noStrike">
                <a:solidFill>
                  <a:schemeClr val="dk1"/>
                </a:solidFill>
                <a:latin typeface="Arial"/>
                <a:ea typeface="Arial"/>
              </a:rPr>
              <a:t>Mediu de Testare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Arhitectura Hardware (Mașina Host)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Procesor: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AMD Ryzen 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Memorie RAM: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8 GB DDR4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Stocare: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SSD (esențial pentru viteza I/O pe fișierele FIFO)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Arhitectura Software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Sistem de Operare: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Linux (Ubuntu WSL2)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Mediu de execuție: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Bash Shell (versiunea 5.x)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Tehnologii: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Named Pipes (fifo), semnale POSIX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Configurația Proceselor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1 Proces Master (Coordonator)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10 Procese Slave (Worker threads simulați)  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N Clienți concurenți lansați din terminale diferite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Date Experimentale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Comenzi shell standard (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ls -la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, 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whoami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, 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date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lvl="1"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○"/>
              <a:tabLst>
                <a:tab algn="l" pos="0"/>
              </a:tabLst>
            </a:pP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Comenzi cu output voluminos (</a:t>
            </a:r>
            <a:r>
              <a:rPr b="0" lang="en" sz="1100" spc="-1" strike="noStrike">
                <a:solidFill>
                  <a:srgbClr val="188038"/>
                </a:solidFill>
                <a:latin typeface="Roboto Mono"/>
                <a:ea typeface="Roboto Mono"/>
              </a:rPr>
              <a:t>cat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pe fișiere mari)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19;p23"/>
          <p:cNvSpPr/>
          <p:nvPr/>
        </p:nvSpPr>
        <p:spPr>
          <a:xfrm>
            <a:off x="344520" y="708120"/>
            <a:ext cx="6777360" cy="36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pc="-1" strike="noStrike">
                <a:solidFill>
                  <a:schemeClr val="dk2"/>
                </a:solidFill>
                <a:latin typeface="Arial"/>
                <a:ea typeface="Arial"/>
              </a:rPr>
              <a:t> </a:t>
            </a:r>
            <a:r>
              <a:rPr b="0" lang="en" sz="1800" spc="-1" strike="noStrike">
                <a:solidFill>
                  <a:schemeClr val="dk1"/>
                </a:solidFill>
                <a:latin typeface="Arial"/>
                <a:ea typeface="Arial"/>
              </a:rPr>
              <a:t>Evaluare și Rezultate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Scenarii de Testare (Use-Cases)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Funcțional: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Client unic → Verificarea fluxului complet cerere-răspuns.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Concurență (Stress Test):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5 clienți simultan → Validarea algoritmului Round-Robin.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Stabilitate: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Comenzi invalide sau inexistente → Verificarea tratării erorilor (stderr).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spcBef>
                <a:spcPts val="1199"/>
              </a:spcBef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Măsuri de Performanță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Corectitudine: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100% din răspunsuri ajung la clientul care a făcut cererea (garantat de PID).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914400" indent="-298440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Eficiență:</a:t>
            </a:r>
            <a:r>
              <a:rPr b="0" lang="en" sz="1100" spc="-1" strike="noStrike">
                <a:solidFill>
                  <a:schemeClr val="dk1"/>
                </a:solidFill>
                <a:latin typeface="Arial"/>
                <a:ea typeface="Arial"/>
              </a:rPr>
              <a:t> Distribuția uniformă a sarcinii pe cei 10 slcavi (verificată prin log-uri).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124;p24"/>
          <p:cNvSpPr/>
          <p:nvPr/>
        </p:nvSpPr>
        <p:spPr>
          <a:xfrm>
            <a:off x="796320" y="356040"/>
            <a:ext cx="288432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2500" spc="-1" strike="noStrike">
                <a:solidFill>
                  <a:schemeClr val="dk1"/>
                </a:solidFill>
                <a:latin typeface="Arial"/>
                <a:ea typeface="Arial"/>
              </a:rPr>
              <a:t>Concluzii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Google Shape;125;p24"/>
          <p:cNvSpPr/>
          <p:nvPr/>
        </p:nvSpPr>
        <p:spPr>
          <a:xfrm>
            <a:off x="533880" y="1163880"/>
            <a:ext cx="4133520" cy="338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pc="-1" strike="noStrike">
                <a:solidFill>
                  <a:schemeClr val="dk1"/>
                </a:solidFill>
                <a:latin typeface="Arial"/>
                <a:ea typeface="Arial"/>
              </a:rPr>
              <a:t>Realizari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Implementarea unui serviciu complet </a:t>
            </a: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Remote Shell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folosind exclusiv scripturi Bash și mecanisme IPC native.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Demonstrarea arhitecturii </a:t>
            </a: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Master-Slave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cu load balancing (Round-Robin) fără biblioteci complexe.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Gestionarea comunicării asincrone bidirecționale prin fișiere FIFO.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Google Shape;126;p24"/>
          <p:cNvSpPr/>
          <p:nvPr/>
        </p:nvSpPr>
        <p:spPr>
          <a:xfrm>
            <a:off x="4826880" y="397440"/>
            <a:ext cx="4092120" cy="398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" sz="1800" spc="-1" strike="noStrike">
                <a:solidFill>
                  <a:schemeClr val="dk1"/>
                </a:solidFill>
                <a:latin typeface="Arial"/>
                <a:ea typeface="Arial"/>
              </a:rPr>
              <a:t>Lecții Învățate și Aspecte Remarcate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Sincronizarea: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Ordinea deschiderii pipe-urilor (Reader vs Writer) este critică pentru a evita </a:t>
            </a:r>
            <a:r>
              <a:rPr b="0" i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Deadlock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Managementul Resurselor: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Necesitatea curățării fișierelor FIFO ("garbage collection") folosind </a:t>
            </a:r>
            <a:r>
              <a:rPr b="0" lang="en" sz="1300" spc="-1" strike="noStrike">
                <a:solidFill>
                  <a:srgbClr val="188038"/>
                </a:solidFill>
                <a:latin typeface="Roboto Mono"/>
                <a:ea typeface="Roboto Mono"/>
              </a:rPr>
              <a:t>trap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la închiderea scripturilor.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Parsare: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Extragerea datelor structurate (PID, Comandă) în Bash necesită atenție la spații și caractere speciale.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 indent="-311040">
              <a:lnSpc>
                <a:spcPct val="100000"/>
              </a:lnSpc>
              <a:buClr>
                <a:srgbClr val="000000"/>
              </a:buClr>
              <a:buFont typeface="Arial"/>
              <a:buChar char="●"/>
              <a:tabLst>
                <a:tab algn="l" pos="0"/>
              </a:tabLst>
            </a:pPr>
            <a:r>
              <a:rPr b="1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Securitate:</a:t>
            </a:r>
            <a:r>
              <a:rPr b="0" lang="en" sz="1300" spc="-1" strike="noStrike">
                <a:solidFill>
                  <a:schemeClr val="dk1"/>
                </a:solidFill>
                <a:latin typeface="Arial"/>
                <a:ea typeface="Arial"/>
              </a:rPr>
              <a:t> Execuția comenzilor arbitrare primite prin pipe necesită validare strictă într-un scenariu real de producție.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457200">
              <a:lnSpc>
                <a:spcPct val="100000"/>
              </a:lnSpc>
              <a:tabLst>
                <a:tab algn="l" pos="0"/>
              </a:tabLs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2026-01-05T15:30:17Z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