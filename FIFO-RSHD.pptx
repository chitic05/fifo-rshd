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Roboto Mon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RobotoMon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bold.fntdata"/><Relationship Id="rId6" Type="http://schemas.openxmlformats.org/officeDocument/2006/relationships/slide" Target="slides/slide1.xml"/><Relationship Id="rId18" Type="http://schemas.openxmlformats.org/officeDocument/2006/relationships/font" Target="fonts/RobotoMon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4524df7a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4524df7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4524df7a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4524df7a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b4524df7a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b4524df7a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4524df7af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4524df7af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444476f3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444476f3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444476f34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444476f34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444476f34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444476f3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444476f34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444476f34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4524df7af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b4524df7af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62e8a680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62e8a680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4524df7af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4524df7af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FIFO-RSHD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19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531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531">
                <a:solidFill>
                  <a:schemeClr val="dk1"/>
                </a:solidFill>
                <a:highlight>
                  <a:srgbClr val="F5F5F5"/>
                </a:highlight>
              </a:rPr>
              <a:t>De Chitic David-Alexandru,</a:t>
            </a:r>
            <a:endParaRPr sz="3531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531">
                <a:solidFill>
                  <a:schemeClr val="dk1"/>
                </a:solidFill>
                <a:highlight>
                  <a:srgbClr val="F5F5F5"/>
                </a:highlight>
              </a:rPr>
              <a:t>Patrascu Andrei,</a:t>
            </a:r>
            <a:endParaRPr sz="3531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531">
                <a:solidFill>
                  <a:schemeClr val="dk1"/>
                </a:solidFill>
                <a:highlight>
                  <a:srgbClr val="F5F5F5"/>
                </a:highlight>
              </a:rPr>
              <a:t>Nemtoi Andrei Gabriel</a:t>
            </a:r>
            <a:endParaRPr sz="3531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chemeClr val="dk1"/>
                </a:solidFill>
                <a:highlight>
                  <a:srgbClr val="F5F5F5"/>
                </a:highlight>
              </a:rPr>
              <a:t>Universitatea din Bucuresti​</a:t>
            </a:r>
            <a:endParaRPr sz="2400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chemeClr val="dk1"/>
                </a:solidFill>
                <a:highlight>
                  <a:srgbClr val="F5F5F5"/>
                </a:highlight>
              </a:rPr>
              <a:t>Departamentul de Informatica​</a:t>
            </a:r>
            <a:endParaRPr sz="2400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chemeClr val="dk1"/>
                </a:solidFill>
                <a:highlight>
                  <a:srgbClr val="F5F5F5"/>
                </a:highlight>
              </a:rPr>
              <a:t>Instrumente si tehnici de baza in informatica​</a:t>
            </a:r>
            <a:endParaRPr sz="2400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chemeClr val="dk1"/>
                </a:solidFill>
                <a:highlight>
                  <a:srgbClr val="F5F5F5"/>
                </a:highlight>
              </a:rPr>
              <a:t>2025-2026​</a:t>
            </a:r>
            <a:endParaRPr sz="2400">
              <a:solidFill>
                <a:schemeClr val="dk1"/>
              </a:solidFill>
              <a:highlight>
                <a:srgbClr val="F5F5F5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0" y="0"/>
            <a:ext cx="3938100" cy="70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Descrierea Problemei</a:t>
            </a:r>
            <a:endParaRPr sz="2500"/>
          </a:p>
        </p:txBody>
      </p:sp>
      <p:sp>
        <p:nvSpPr>
          <p:cNvPr id="61" name="Google Shape;61;p14"/>
          <p:cNvSpPr txBox="1"/>
          <p:nvPr/>
        </p:nvSpPr>
        <p:spPr>
          <a:xfrm>
            <a:off x="214675" y="697725"/>
            <a:ext cx="3723300" cy="42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dk1"/>
                </a:solidFill>
              </a:rPr>
              <a:t>Care sunt datele problemei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cereri trimise de clienți sub forma: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100">
                <a:solidFill>
                  <a:srgbClr val="188038"/>
                </a:solidFill>
              </a:rPr>
              <a:t>BEGIN-REQ [client-pid: command-name] END-REQ</a:t>
            </a:r>
            <a:br>
              <a:rPr lang="en" sz="1100">
                <a:solidFill>
                  <a:srgbClr val="188038"/>
                </a:solidFill>
              </a:rPr>
            </a:br>
            <a:endParaRPr sz="1100">
              <a:solidFill>
                <a:srgbClr val="188038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rgbClr val="188038"/>
                </a:solidFill>
              </a:rPr>
              <a:t>client-pid</a:t>
            </a:r>
            <a:r>
              <a:rPr lang="en" sz="1100">
                <a:solidFill>
                  <a:schemeClr val="dk1"/>
                </a:solidFill>
              </a:rPr>
              <a:t> – identificatorul procesului client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rgbClr val="188038"/>
                </a:solidFill>
              </a:rPr>
              <a:t>command-name</a:t>
            </a:r>
            <a:r>
              <a:rPr lang="en" sz="1100">
                <a:solidFill>
                  <a:schemeClr val="dk1"/>
                </a:solidFill>
              </a:rPr>
              <a:t> – numele comenzii shell pentru care se solicită pagina de manual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fișier FIFO „well-known” utilizat de server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fișiere FIFO individuale pentru fiecare client, denumite pe baza PID-ului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Care este contextul general al problemei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problemă de </a:t>
            </a:r>
            <a:r>
              <a:rPr b="1" lang="en" sz="1100">
                <a:solidFill>
                  <a:schemeClr val="dk1"/>
                </a:solidFill>
              </a:rPr>
              <a:t>comunicare inter-proces (IPC)</a:t>
            </a:r>
            <a:r>
              <a:rPr lang="en" sz="1100">
                <a:solidFill>
                  <a:schemeClr val="dk1"/>
                </a:solidFill>
              </a:rPr>
              <a:t> în sisteme de operare UNIX/Linux</a:t>
            </a:r>
            <a:br>
              <a:rPr lang="en" sz="1100">
                <a:solidFill>
                  <a:schemeClr val="dk1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4363025" y="93925"/>
            <a:ext cx="4781100" cy="50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utilizarea fișierelor speciale de tip </a:t>
            </a:r>
            <a:r>
              <a:rPr b="1" lang="en" sz="1100">
                <a:solidFill>
                  <a:schemeClr val="dk1"/>
                </a:solidFill>
              </a:rPr>
              <a:t>FIFO (named pipes)</a:t>
            </a:r>
            <a:r>
              <a:rPr lang="en" sz="1100">
                <a:solidFill>
                  <a:schemeClr val="dk1"/>
                </a:solidFill>
              </a:rPr>
              <a:t> pentru schimb de date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arhitectură </a:t>
            </a:r>
            <a:r>
              <a:rPr b="1" lang="en" sz="1100">
                <a:solidFill>
                  <a:schemeClr val="dk1"/>
                </a:solidFill>
              </a:rPr>
              <a:t>client–server</a:t>
            </a:r>
            <a:br>
              <a:rPr b="1" lang="en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sincronizarea comunicării între mai mulți clienți și un server unic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Care sunt datele particulare ale problemei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serverul citește cereri dintr-un FIFO cu nume cunoscut, configurabil din fișier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fiecare client creează un FIFO personal pentru a primi răspunsul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serverul execută comanda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comenzile specificate </a:t>
            </a:r>
            <a:r>
              <a:rPr lang="en" sz="1100">
                <a:solidFill>
                  <a:schemeClr val="dk1"/>
                </a:solidFill>
              </a:rPr>
              <a:t>pentru a obține informația cerută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răspunsul este trimis exclusiv clientului care a făcut cererea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clientul șterge FIFO-ul personal după afișarea rezultatului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134175" y="402500"/>
            <a:ext cx="4437900" cy="50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Ce se urmărește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implementarea unui mecanism simplu și funcțional de comunicare client–server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separarea clară a canalelor de comunicare pentru evitarea conflictelor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demonstrarea utilizării FIFO-urilor în bash scripting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De ce e nevoie de o soluție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permite acces concurent la informații despre comenzi shell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exemplifică concepte fundamentale din sistemele de operare (IPC, procese, sincronizare)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5011550" y="261650"/>
            <a:ext cx="4132500" cy="474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Soluții posibile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comunicare prin FIFO-uri (soluția aleasă)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alternative: socket-uri, pipe-uri anonime, mesaje POSIX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 adresează explicit varianta bazată pe FIFO-uri și scripturi bash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Măsuri de performanță avute în vedere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timpul de răspuns al serverului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corectitudinea livrării răspunsului către clientul corespunzător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gestionarea mai multor cereri succesive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curățarea corectă a resurselor (ștergerea FIFO-urilor)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ctrTitle"/>
          </p:nvPr>
        </p:nvSpPr>
        <p:spPr>
          <a:xfrm>
            <a:off x="1644000" y="0"/>
            <a:ext cx="4776300" cy="6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highlight>
                  <a:srgbClr val="F5F5F5"/>
                </a:highlight>
              </a:rPr>
              <a:t>Specificatia solutiei​</a:t>
            </a:r>
            <a:endParaRPr/>
          </a:p>
        </p:txBody>
      </p:sp>
      <p:sp>
        <p:nvSpPr>
          <p:cNvPr id="74" name="Google Shape;74;p16"/>
          <p:cNvSpPr txBox="1"/>
          <p:nvPr/>
        </p:nvSpPr>
        <p:spPr>
          <a:xfrm>
            <a:off x="69325" y="675375"/>
            <a:ext cx="4502700" cy="45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Obiective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realizarea unui sistem client–server funcțional în bash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comunicare sigură între procese folosind FIFO-uri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acces la comenzi shell, la cerere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Descrierea soluției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server bash care ascultă cereri într-un FIFO „well-known”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clienți bash care trimit cereri și primesc răspunsuri dedicate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procesarea cererilor prin executarea comenzilor cerute </a:t>
            </a:r>
            <a:endParaRPr sz="1100">
              <a:solidFill>
                <a:srgbClr val="188038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4709675" y="675375"/>
            <a:ext cx="4502700" cy="42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Caracteristici principale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suport pentru mai mulți clienți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FIFO personalizat pentru fiecare client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separarea clară a cererilor și răspunsurilor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Cerințe funcționale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trimiterea cererii în format standard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procesarea corectă a comenzii cerute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livrarea răspunsului către clientul corespunzător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80500" y="71550"/>
            <a:ext cx="4491600" cy="3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UX / Utilizare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rulare din linia de comandă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afișare directă a conținutului comenzilor date 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fără interacțiune suplimentară din partea utilizatorului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Cerințe de sistem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sistem de operare Linux/UNIX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suport pentru bash, FIFO (</a:t>
            </a:r>
            <a:r>
              <a:rPr lang="en" sz="1100">
                <a:solidFill>
                  <a:srgbClr val="188038"/>
                </a:solidFill>
              </a:rPr>
              <a:t>mkfifo</a:t>
            </a:r>
            <a:r>
              <a:rPr lang="en" sz="1100">
                <a:solidFill>
                  <a:schemeClr val="dk1"/>
                </a:solidFill>
              </a:rPr>
              <a:t>)</a:t>
            </a:r>
            <a:endParaRPr sz="1100">
              <a:solidFill>
                <a:srgbClr val="188038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4653750" y="82750"/>
            <a:ext cx="4629300" cy="3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dk1"/>
                </a:solidFill>
              </a:rPr>
              <a:t>Presupuneri și limitări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comenzile cerute există în sistem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nu se tratează erori complexe sau atacuri</a:t>
            </a:r>
            <a:br>
              <a:rPr lang="en" sz="1100">
                <a:solidFill>
                  <a:schemeClr val="dk1"/>
                </a:solidFill>
              </a:rPr>
            </a:b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dk1"/>
                </a:solidFill>
              </a:rPr>
              <a:t>Evaluare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corectitudinea răspunsului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timpul de răspuns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gestionarea FIFO-urilor fără scurgeri de resurse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405900" y="326450"/>
            <a:ext cx="4260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</a:t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4448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Arhitectură software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Arhitectură </a:t>
            </a:r>
            <a:r>
              <a:rPr b="1" lang="en" sz="1100">
                <a:solidFill>
                  <a:schemeClr val="dk1"/>
                </a:solidFill>
              </a:rPr>
              <a:t>client–server multi-proces</a:t>
            </a:r>
            <a:br>
              <a:rPr b="1" lang="en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Comunicare inter-proces realizată exclusiv prin </a:t>
            </a:r>
            <a:r>
              <a:rPr b="1" lang="en" sz="1100">
                <a:solidFill>
                  <a:schemeClr val="dk1"/>
                </a:solidFill>
              </a:rPr>
              <a:t>FIFO-uri (named pipes)</a:t>
            </a:r>
            <a:br>
              <a:rPr b="1" lang="en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Componente: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" sz="1100">
                <a:solidFill>
                  <a:schemeClr val="dk1"/>
                </a:solidFill>
              </a:rPr>
              <a:t>Client</a:t>
            </a:r>
            <a:r>
              <a:rPr lang="en" sz="1100">
                <a:solidFill>
                  <a:schemeClr val="dk1"/>
                </a:solidFill>
              </a:rPr>
              <a:t> – trimite cereri de execuție comenzi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" sz="1100">
                <a:solidFill>
                  <a:schemeClr val="dk1"/>
                </a:solidFill>
              </a:rPr>
              <a:t>Server Master</a:t>
            </a:r>
            <a:r>
              <a:rPr lang="en" sz="1100">
                <a:solidFill>
                  <a:schemeClr val="dk1"/>
                </a:solidFill>
              </a:rPr>
              <a:t> – primește cereri și le distribuie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" sz="1100">
                <a:solidFill>
                  <a:schemeClr val="dk1"/>
                </a:solidFill>
              </a:rPr>
              <a:t>Servere Slave</a:t>
            </a:r>
            <a:r>
              <a:rPr lang="en" sz="1100">
                <a:solidFill>
                  <a:schemeClr val="dk1"/>
                </a:solidFill>
              </a:rPr>
              <a:t> – execută comenzile primite</a:t>
            </a:r>
            <a:endParaRPr sz="1300"/>
          </a:p>
        </p:txBody>
      </p:sp>
      <p:sp>
        <p:nvSpPr>
          <p:cNvPr id="88" name="Google Shape;88;p18"/>
          <p:cNvSpPr txBox="1"/>
          <p:nvPr/>
        </p:nvSpPr>
        <p:spPr>
          <a:xfrm>
            <a:off x="4232325" y="1583925"/>
            <a:ext cx="4905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4624025" y="326450"/>
            <a:ext cx="4351800" cy="422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Mecanisme și algoritmi utilizați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FIFO principal</a:t>
            </a:r>
            <a:r>
              <a:rPr lang="en" sz="1100">
                <a:solidFill>
                  <a:schemeClr val="dk1"/>
                </a:solidFill>
              </a:rPr>
              <a:t> (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MAIN_FIFO</a:t>
            </a:r>
            <a:r>
              <a:rPr lang="en" sz="1100">
                <a:solidFill>
                  <a:schemeClr val="dk1"/>
                </a:solidFill>
              </a:rPr>
              <a:t>) pentru cereri client → server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FIFO-uri dedicate server–slave</a:t>
            </a:r>
            <a:br>
              <a:rPr b="1" lang="en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FIFO-uri personalizate per client</a:t>
            </a:r>
            <a:r>
              <a:rPr lang="en" sz="1100">
                <a:solidFill>
                  <a:schemeClr val="dk1"/>
                </a:solidFill>
              </a:rPr>
              <a:t>, identificate prin PID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Algoritm Round-Robin (modulo)</a:t>
            </a:r>
            <a:r>
              <a:rPr lang="en" sz="1100">
                <a:solidFill>
                  <a:schemeClr val="dk1"/>
                </a:solidFill>
              </a:rPr>
              <a:t> pentru distribuția cererilor: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slave_id = counter % NUM_SLAVES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Motivele alegerii soluției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FIFO: implementare simplă, overhead redus, cerință explicită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Round-Robin: distribuție echilibrată, complexitate O(1)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PID ca identificator: unic, simplifică maparea răspunsurilor</a:t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idx="4294967295" type="body"/>
          </p:nvPr>
        </p:nvSpPr>
        <p:spPr>
          <a:xfrm>
            <a:off x="279071" y="11922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Fluxul unei cereri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Clientul creează FIFO-ul personal (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server-reply-PID</a:t>
            </a:r>
            <a:r>
              <a:rPr lang="en" sz="1100">
                <a:solidFill>
                  <a:schemeClr val="dk1"/>
                </a:solidFill>
              </a:rPr>
              <a:t>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Trimite cererea în format: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BEGIN-REQ [PID: command] END-REQ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Serverul Master alege un slave (Round-Robin)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Slave-ul execută comanda și trimite rezultatul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Clientul afișează output-ul și șterge FIFO-ul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5" name="Google Shape;95;p19" title="diagrama_poz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4225" y="2850853"/>
            <a:ext cx="6215552" cy="226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310900"/>
            <a:ext cx="4014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Implementare</a:t>
            </a:r>
            <a:endParaRPr/>
          </a:p>
        </p:txBody>
      </p:sp>
      <p:sp>
        <p:nvSpPr>
          <p:cNvPr id="101" name="Google Shape;101;p20"/>
          <p:cNvSpPr txBox="1"/>
          <p:nvPr>
            <p:ph idx="1" type="body"/>
          </p:nvPr>
        </p:nvSpPr>
        <p:spPr>
          <a:xfrm>
            <a:off x="311700" y="863550"/>
            <a:ext cx="8520600" cy="40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00">
                <a:solidFill>
                  <a:schemeClr val="dk1"/>
                </a:solidFill>
              </a:rPr>
              <a:t>Componente software</a:t>
            </a:r>
            <a:endParaRPr b="1"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client.sh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Creează FIFO personal bazat pe PID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Trimite cereri către server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Afișează rezultatul execuției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server.sh (Master)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Creează FIFO-ul principal și FIFO-urile slave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Gestionează distribuția cererilor (Round-Robin)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Pornește și coordonează procesele slave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slave.sh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Primește cereri de la server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Parsează mesajele folosind regex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Execută comenzile shell și redirecționează output-ul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config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Parametri globali (număr slave, nume FIFO-uri)</a:t>
            </a:r>
            <a:endParaRPr sz="1000"/>
          </a:p>
        </p:txBody>
      </p:sp>
      <p:sp>
        <p:nvSpPr>
          <p:cNvPr id="102" name="Google Shape;102;p20"/>
          <p:cNvSpPr txBox="1"/>
          <p:nvPr/>
        </p:nvSpPr>
        <p:spPr>
          <a:xfrm>
            <a:off x="4326000" y="310900"/>
            <a:ext cx="4624200" cy="3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</a:rPr>
              <a:t>Biblioteci / utilitare folosite</a:t>
            </a:r>
            <a:endParaRPr b="1"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Bash shell scripting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" sz="1000">
                <a:solidFill>
                  <a:schemeClr val="dk1"/>
                </a:solidFill>
              </a:rPr>
              <a:t>Utilitare standard POSIX: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mkfifo</a:t>
            </a:r>
            <a:r>
              <a:rPr lang="en" sz="1000">
                <a:solidFill>
                  <a:schemeClr val="dk1"/>
                </a:solidFill>
              </a:rPr>
              <a:t> – creare canale FIFO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read</a:t>
            </a:r>
            <a:r>
              <a:rPr lang="en" sz="1000">
                <a:solidFill>
                  <a:schemeClr val="dk1"/>
                </a:solidFill>
              </a:rPr>
              <a:t>, </a:t>
            </a: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echo</a:t>
            </a:r>
            <a:r>
              <a:rPr lang="en" sz="1000">
                <a:solidFill>
                  <a:schemeClr val="dk1"/>
                </a:solidFill>
              </a:rPr>
              <a:t>, </a:t>
            </a: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cat, tail</a:t>
            </a:r>
            <a:r>
              <a:rPr lang="en" sz="1000">
                <a:solidFill>
                  <a:schemeClr val="dk1"/>
                </a:solidFill>
              </a:rPr>
              <a:t> – comunicare prin pipe-uri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trap</a:t>
            </a:r>
            <a:r>
              <a:rPr lang="en" sz="1000">
                <a:solidFill>
                  <a:schemeClr val="dk1"/>
                </a:solidFill>
              </a:rPr>
              <a:t> – tratarea semnalelor și curățarea resurselor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eval</a:t>
            </a:r>
            <a:r>
              <a:rPr lang="en" sz="1000">
                <a:solidFill>
                  <a:schemeClr val="dk1"/>
                </a:solidFill>
              </a:rPr>
              <a:t> – execuția comenzilor shell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b="1" lang="en" sz="1000">
                <a:solidFill>
                  <a:schemeClr val="dk1"/>
                </a:solidFill>
              </a:rPr>
              <a:t>Regex Bash (</a:t>
            </a:r>
            <a:r>
              <a:rPr b="1" lang="en" sz="10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[[ =~ ]]</a:t>
            </a:r>
            <a:r>
              <a:rPr b="1" lang="en" sz="1000">
                <a:solidFill>
                  <a:schemeClr val="dk1"/>
                </a:solidFill>
              </a:rPr>
              <a:t>)</a:t>
            </a:r>
            <a:br>
              <a:rPr b="1" lang="en" sz="1000">
                <a:solidFill>
                  <a:schemeClr val="dk1"/>
                </a:solidFill>
              </a:rPr>
            </a:br>
            <a:endParaRPr b="1" sz="1000">
              <a:solidFill>
                <a:schemeClr val="dk1"/>
              </a:solidFill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</a:pPr>
            <a:r>
              <a:rPr lang="en" sz="1000">
                <a:solidFill>
                  <a:schemeClr val="dk1"/>
                </a:solidFill>
              </a:rPr>
              <a:t>Parsarea cererilor client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/>
        </p:nvSpPr>
        <p:spPr>
          <a:xfrm>
            <a:off x="262906" y="1055550"/>
            <a:ext cx="4104600" cy="30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Probleme tehnice întâlnite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Blocarea citirii din FIFO-uri fără scriitor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Curățarea FIFO-urilor la terminarea proceselor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Sincronizarea mai multor clienți concurenți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Parsarea corectă a comenzilor cu spații și pipe-uri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</p:txBody>
      </p:sp>
      <p:sp>
        <p:nvSpPr>
          <p:cNvPr id="108" name="Google Shape;108;p21"/>
          <p:cNvSpPr txBox="1"/>
          <p:nvPr/>
        </p:nvSpPr>
        <p:spPr>
          <a:xfrm>
            <a:off x="4449000" y="1179450"/>
            <a:ext cx="4513200" cy="27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Soluții aplicate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FIFO-uri </a:t>
            </a:r>
            <a:r>
              <a:rPr b="1" lang="en">
                <a:solidFill>
                  <a:schemeClr val="dk1"/>
                </a:solidFill>
              </a:rPr>
              <a:t>blocante</a:t>
            </a:r>
            <a:r>
              <a:rPr lang="en">
                <a:solidFill>
                  <a:schemeClr val="dk1"/>
                </a:solidFill>
              </a:rPr>
              <a:t>, citirea așteaptă automat date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trap</a:t>
            </a:r>
            <a:r>
              <a:rPr lang="en">
                <a:solidFill>
                  <a:schemeClr val="dk1"/>
                </a:solidFill>
              </a:rPr>
              <a:t> pentru ștergerea FIFO-urilor la ieșire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FIFO personalizat per client (PID unic)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Mesaj standardizat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BEGIN-REQ … END-REQ</a:t>
            </a:r>
            <a:b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Redirecționare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2&gt;&amp;1</a:t>
            </a:r>
            <a:r>
              <a:rPr lang="en">
                <a:solidFill>
                  <a:schemeClr val="dk1"/>
                </a:solidFill>
              </a:rPr>
              <a:t> pentru capturarea erorilor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/>
        </p:nvSpPr>
        <p:spPr>
          <a:xfrm>
            <a:off x="423375" y="259575"/>
            <a:ext cx="33960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</a:rPr>
              <a:t>Experimente</a:t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114" name="Google Shape;114;p22"/>
          <p:cNvSpPr txBox="1"/>
          <p:nvPr/>
        </p:nvSpPr>
        <p:spPr>
          <a:xfrm>
            <a:off x="423375" y="929175"/>
            <a:ext cx="7223400" cy="39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</a:rPr>
              <a:t>Mediu de Testare</a:t>
            </a:r>
            <a:endParaRPr sz="25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" sz="1800">
                <a:solidFill>
                  <a:schemeClr val="dk1"/>
                </a:solidFill>
              </a:rPr>
              <a:t>Arhitectura Hardware (Mașina Host)</a:t>
            </a:r>
            <a:endParaRPr b="1"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Procesor:</a:t>
            </a:r>
            <a:r>
              <a:rPr lang="en" sz="1800">
                <a:solidFill>
                  <a:schemeClr val="dk1"/>
                </a:solidFill>
              </a:rPr>
              <a:t> AMD Ryzen 5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Memorie RAM:</a:t>
            </a:r>
            <a:r>
              <a:rPr lang="en" sz="1800">
                <a:solidFill>
                  <a:schemeClr val="dk1"/>
                </a:solidFill>
              </a:rPr>
              <a:t> 8 GB DDR4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Stocare:</a:t>
            </a:r>
            <a:r>
              <a:rPr lang="en" sz="1800">
                <a:solidFill>
                  <a:schemeClr val="dk1"/>
                </a:solidFill>
              </a:rPr>
              <a:t> SSD (esențial pentru viteza I/O pe fișierele FIFO)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" sz="1800">
                <a:solidFill>
                  <a:schemeClr val="dk1"/>
                </a:solidFill>
              </a:rPr>
              <a:t>Arhitectura Software</a:t>
            </a:r>
            <a:endParaRPr b="1"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Sistem de Operare:</a:t>
            </a:r>
            <a:r>
              <a:rPr lang="en" sz="1800">
                <a:solidFill>
                  <a:schemeClr val="dk1"/>
                </a:solidFill>
              </a:rPr>
              <a:t> Linux (Ubuntu WSL2)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Mediu de execuție:</a:t>
            </a:r>
            <a:r>
              <a:rPr lang="en" sz="1800">
                <a:solidFill>
                  <a:schemeClr val="dk1"/>
                </a:solidFill>
              </a:rPr>
              <a:t> Bash Shell (versiunea 5.x)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b="1" lang="en" sz="1800">
                <a:solidFill>
                  <a:schemeClr val="dk1"/>
                </a:solidFill>
              </a:rPr>
              <a:t>Tehnologii:</a:t>
            </a:r>
            <a:r>
              <a:rPr lang="en" sz="1800">
                <a:solidFill>
                  <a:schemeClr val="dk1"/>
                </a:solidFill>
              </a:rPr>
              <a:t> Named Pipes (mkfifo), semnale POSIX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/>
        </p:nvSpPr>
        <p:spPr>
          <a:xfrm>
            <a:off x="102900" y="411450"/>
            <a:ext cx="89382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Configurația Proceselor (Topologie)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1 x Proces Master (Server):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Funcționează ca Dispatcher non-blocant.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Distribuie sarcinile ciclic (algoritm </a:t>
            </a:r>
            <a:r>
              <a:rPr b="1" lang="en" sz="1100">
                <a:solidFill>
                  <a:schemeClr val="dk1"/>
                </a:solidFill>
              </a:rPr>
              <a:t>Round-Robin</a:t>
            </a:r>
            <a:r>
              <a:rPr lang="en" sz="1100">
                <a:solidFill>
                  <a:schemeClr val="dk1"/>
                </a:solidFill>
              </a:rPr>
              <a:t>) către sclavi.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Menține persistența conexiunii folosind descriptorul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exec 3&lt;&gt;</a:t>
            </a:r>
            <a:r>
              <a:rPr lang="en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3 x Procese Slave (Workers):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Rulează în paralel (background).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Validează input-ul prin </a:t>
            </a:r>
            <a:r>
              <a:rPr b="1" lang="en" sz="1100">
                <a:solidFill>
                  <a:schemeClr val="dk1"/>
                </a:solidFill>
              </a:rPr>
              <a:t>Regex</a:t>
            </a:r>
            <a:r>
              <a:rPr lang="en" sz="1100">
                <a:solidFill>
                  <a:schemeClr val="dk1"/>
                </a:solidFill>
              </a:rPr>
              <a:t> și execută comenzi cu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eval</a:t>
            </a:r>
            <a:r>
              <a:rPr lang="en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N x Clienți Concurenți: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Lansați simultan din terminale distincte.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Comunicare asincronă prin pipe-uri de răspuns dedicate.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Scenarii de Testare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Teste de Paralelism (Load Testing):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Execuție simultană a comenzilor blocante (ex: 3 clienți cu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sleep 3</a:t>
            </a:r>
            <a:r>
              <a:rPr lang="en" sz="1100">
                <a:solidFill>
                  <a:schemeClr val="dk1"/>
                </a:solidFill>
              </a:rPr>
              <a:t>).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" sz="1100">
                <a:solidFill>
                  <a:schemeClr val="dk1"/>
                </a:solidFill>
              </a:rPr>
              <a:t>Rezultat:</a:t>
            </a:r>
            <a:r>
              <a:rPr lang="en" sz="1100">
                <a:solidFill>
                  <a:schemeClr val="dk1"/>
                </a:solidFill>
              </a:rPr>
              <a:t> Timpul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real</a:t>
            </a:r>
            <a:r>
              <a:rPr lang="en" sz="1100">
                <a:solidFill>
                  <a:schemeClr val="dk1"/>
                </a:solidFill>
              </a:rPr>
              <a:t> ≈ durata unei singure comenzi (demonstrarea concurenței).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Teste de Funcționalitate și Latență: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Comenzi uzuale (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ls -la</a:t>
            </a:r>
            <a:r>
              <a:rPr lang="en" sz="1100">
                <a:solidFill>
                  <a:schemeClr val="dk1"/>
                </a:solidFill>
              </a:rPr>
              <a:t>,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date</a:t>
            </a:r>
            <a:r>
              <a:rPr lang="en" sz="1100">
                <a:solidFill>
                  <a:schemeClr val="dk1"/>
                </a:solidFill>
              </a:rPr>
              <a:t>) pentru măsurarea overhead-ului de comunicare.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Teste de Volum: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Transfer de output voluminos (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</a:t>
            </a:r>
            <a:r>
              <a:rPr lang="en" sz="1100">
                <a:solidFill>
                  <a:schemeClr val="dk1"/>
                </a:solidFill>
              </a:rPr>
              <a:t> pe fișiere mari) pentru verificarea stabilității buffer-ului FIFO.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120" name="Google Shape;120;p23" title="desmos-grap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7425" y="87875"/>
            <a:ext cx="2997500" cy="299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3"/>
          <p:cNvSpPr txBox="1"/>
          <p:nvPr/>
        </p:nvSpPr>
        <p:spPr>
          <a:xfrm>
            <a:off x="5705550" y="3099725"/>
            <a:ext cx="29295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Grafic pentru 3 sclavi</a:t>
            </a:r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/>
        </p:nvSpPr>
        <p:spPr>
          <a:xfrm>
            <a:off x="796150" y="356175"/>
            <a:ext cx="28851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</a:rPr>
              <a:t>Concluzii</a:t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127" name="Google Shape;127;p24"/>
          <p:cNvSpPr txBox="1"/>
          <p:nvPr/>
        </p:nvSpPr>
        <p:spPr>
          <a:xfrm>
            <a:off x="533825" y="1163700"/>
            <a:ext cx="4134300" cy="33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Realizari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Implementarea unui serviciu complet </a:t>
            </a:r>
            <a:r>
              <a:rPr b="1" lang="en" sz="1300">
                <a:solidFill>
                  <a:schemeClr val="dk1"/>
                </a:solidFill>
              </a:rPr>
              <a:t>Remote Shell</a:t>
            </a:r>
            <a:r>
              <a:rPr lang="en" sz="1300">
                <a:solidFill>
                  <a:schemeClr val="dk1"/>
                </a:solidFill>
              </a:rPr>
              <a:t> folosind exclusiv scripturi Bash și mecanisme IPC native.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Demonstrarea arhitecturii </a:t>
            </a:r>
            <a:r>
              <a:rPr b="1" lang="en" sz="1300">
                <a:solidFill>
                  <a:schemeClr val="dk1"/>
                </a:solidFill>
              </a:rPr>
              <a:t>Master-Slave</a:t>
            </a:r>
            <a:r>
              <a:rPr lang="en" sz="1300">
                <a:solidFill>
                  <a:schemeClr val="dk1"/>
                </a:solidFill>
              </a:rPr>
              <a:t> cu load balancing (Round-Robin) fără biblioteci complexe.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Gestionarea comunicării asincrone bidirecționale prin fișiere FIFO.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4"/>
          <p:cNvSpPr txBox="1"/>
          <p:nvPr/>
        </p:nvSpPr>
        <p:spPr>
          <a:xfrm>
            <a:off x="4827000" y="397575"/>
            <a:ext cx="4092900" cy="39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Lecții Învățate și Aspecte Remarcate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Sincronizarea:</a:t>
            </a:r>
            <a:r>
              <a:rPr lang="en" sz="1300">
                <a:solidFill>
                  <a:schemeClr val="dk1"/>
                </a:solidFill>
              </a:rPr>
              <a:t> Ordinea deschiderii pipe-urilor (Reader vs Writer) este critică pentru a evita </a:t>
            </a:r>
            <a:r>
              <a:rPr i="1" lang="en" sz="1300">
                <a:solidFill>
                  <a:schemeClr val="dk1"/>
                </a:solidFill>
              </a:rPr>
              <a:t>Deadlock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Managementul Resurselor:</a:t>
            </a:r>
            <a:r>
              <a:rPr lang="en" sz="1300">
                <a:solidFill>
                  <a:schemeClr val="dk1"/>
                </a:solidFill>
              </a:rPr>
              <a:t> Necesitatea curățării fișierelor FIFO ("garbage collection") folosind </a:t>
            </a:r>
            <a:r>
              <a:rPr lang="en" sz="13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trap</a:t>
            </a:r>
            <a:r>
              <a:rPr lang="en" sz="1300">
                <a:solidFill>
                  <a:schemeClr val="dk1"/>
                </a:solidFill>
              </a:rPr>
              <a:t> la închiderea scripturilor.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Parsare:</a:t>
            </a:r>
            <a:r>
              <a:rPr lang="en" sz="1300">
                <a:solidFill>
                  <a:schemeClr val="dk1"/>
                </a:solidFill>
              </a:rPr>
              <a:t> Extragerea datelor structurate (PID, Comandă) în Bash necesită atenție la spații și caractere speciale.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Securitate:</a:t>
            </a:r>
            <a:r>
              <a:rPr lang="en" sz="1300">
                <a:solidFill>
                  <a:schemeClr val="dk1"/>
                </a:solidFill>
              </a:rPr>
              <a:t> Execuția comenzilor arbitrare primite prin pipe necesită validare strictă într-un scenariu real de producție.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